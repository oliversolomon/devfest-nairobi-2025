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Roboto Mono Light"/>
      <p:regular r:id="rId31"/>
      <p:bold r:id="rId32"/>
      <p:italic r:id="rId33"/>
      <p:boldItalic r:id="rId34"/>
    </p:embeddedFont>
    <p:embeddedFont>
      <p:font typeface="Google Sans"/>
      <p:regular r:id="rId35"/>
      <p:bold r:id="rId36"/>
      <p:italic r:id="rId37"/>
      <p:boldItalic r:id="rId38"/>
    </p:embeddedFont>
    <p:embeddedFont>
      <p:font typeface="Google Sans Medium"/>
      <p:regular r:id="rId39"/>
      <p:bold r:id="rId40"/>
      <p:italic r:id="rId41"/>
      <p:boldItalic r:id="rId42"/>
    </p:embeddedFont>
    <p:embeddedFont>
      <p:font typeface="Roboto Mono Thin"/>
      <p:regular r:id="rId43"/>
      <p:bold r:id="rId44"/>
      <p:italic r:id="rId45"/>
      <p:boldItalic r:id="rId46"/>
    </p:embeddedFont>
    <p:embeddedFont>
      <p:font typeface="Roboto Mono ExtraLight"/>
      <p:regular r:id="rId47"/>
      <p:bold r:id="rId48"/>
      <p:italic r:id="rId49"/>
      <p:boldItalic r:id="rId50"/>
    </p:embeddedFont>
    <p:embeddedFont>
      <p:font typeface="Roboto Mono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809">
          <p15:clr>
            <a:srgbClr val="747775"/>
          </p15:clr>
        </p15:guide>
        <p15:guide id="4" pos="5499">
          <p15:clr>
            <a:srgbClr val="747775"/>
          </p15:clr>
        </p15:guide>
        <p15:guide id="5" pos="233">
          <p15:clr>
            <a:srgbClr val="747775"/>
          </p15:clr>
        </p15:guide>
        <p15:guide id="6" orient="horz" pos="765">
          <p15:clr>
            <a:srgbClr val="747775"/>
          </p15:clr>
        </p15:guide>
        <p15:guide id="7" orient="horz" pos="861">
          <p15:clr>
            <a:srgbClr val="747775"/>
          </p15:clr>
        </p15:guide>
        <p15:guide id="8" orient="horz" pos="957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2809" orient="horz"/>
        <p:guide pos="5499"/>
        <p:guide pos="233"/>
        <p:guide pos="765" orient="horz"/>
        <p:guide pos="861" orient="horz"/>
        <p:guide pos="95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GoogleSansMedium-bold.fntdata"/><Relationship Id="rId42" Type="http://schemas.openxmlformats.org/officeDocument/2006/relationships/font" Target="fonts/GoogleSansMedium-boldItalic.fntdata"/><Relationship Id="rId41" Type="http://schemas.openxmlformats.org/officeDocument/2006/relationships/font" Target="fonts/GoogleSansMedium-italic.fntdata"/><Relationship Id="rId44" Type="http://schemas.openxmlformats.org/officeDocument/2006/relationships/font" Target="fonts/RobotoMonoThin-bold.fntdata"/><Relationship Id="rId43" Type="http://schemas.openxmlformats.org/officeDocument/2006/relationships/font" Target="fonts/RobotoMonoThin-regular.fntdata"/><Relationship Id="rId46" Type="http://schemas.openxmlformats.org/officeDocument/2006/relationships/font" Target="fonts/RobotoMonoThin-boldItalic.fntdata"/><Relationship Id="rId45" Type="http://schemas.openxmlformats.org/officeDocument/2006/relationships/font" Target="fonts/RobotoMonoThin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MonoExtraLight-bold.fntdata"/><Relationship Id="rId47" Type="http://schemas.openxmlformats.org/officeDocument/2006/relationships/font" Target="fonts/RobotoMonoExtraLight-regular.fntdata"/><Relationship Id="rId49" Type="http://schemas.openxmlformats.org/officeDocument/2006/relationships/font" Target="fonts/RobotoMonoExtraLigh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Light-regular.fntdata"/><Relationship Id="rId30" Type="http://schemas.openxmlformats.org/officeDocument/2006/relationships/slide" Target="slides/slide25.xml"/><Relationship Id="rId33" Type="http://schemas.openxmlformats.org/officeDocument/2006/relationships/font" Target="fonts/RobotoMonoLight-italic.fntdata"/><Relationship Id="rId32" Type="http://schemas.openxmlformats.org/officeDocument/2006/relationships/font" Target="fonts/RobotoMonoLight-bold.fntdata"/><Relationship Id="rId35" Type="http://schemas.openxmlformats.org/officeDocument/2006/relationships/font" Target="fonts/GoogleSans-regular.fntdata"/><Relationship Id="rId34" Type="http://schemas.openxmlformats.org/officeDocument/2006/relationships/font" Target="fonts/RobotoMonoLight-boldItalic.fntdata"/><Relationship Id="rId37" Type="http://schemas.openxmlformats.org/officeDocument/2006/relationships/font" Target="fonts/GoogleSans-italic.fntdata"/><Relationship Id="rId36" Type="http://schemas.openxmlformats.org/officeDocument/2006/relationships/font" Target="fonts/GoogleSans-bold.fntdata"/><Relationship Id="rId39" Type="http://schemas.openxmlformats.org/officeDocument/2006/relationships/font" Target="fonts/GoogleSansMedium-regular.fntdata"/><Relationship Id="rId38" Type="http://schemas.openxmlformats.org/officeDocument/2006/relationships/font" Target="fonts/GoogleSans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obotoMono-regular.fntdata"/><Relationship Id="rId50" Type="http://schemas.openxmlformats.org/officeDocument/2006/relationships/font" Target="fonts/RobotoMonoExtraLight-boldItalic.fntdata"/><Relationship Id="rId53" Type="http://schemas.openxmlformats.org/officeDocument/2006/relationships/font" Target="fonts/RobotoMono-italic.fntdata"/><Relationship Id="rId52" Type="http://schemas.openxmlformats.org/officeDocument/2006/relationships/font" Target="fonts/RobotoMon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54" Type="http://schemas.openxmlformats.org/officeDocument/2006/relationships/font" Target="fonts/RobotoMon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5b4bbb7f4c_3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" name="Google Shape;15;g35b4bbb7f4c_3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5a5db83d97_0_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" name="Google Shape;23;g35a5db83d97_0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5a5db83d97_0_4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" name="Google Shape;32;g35a5db83d97_0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25514d5365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" name="Google Shape;39;g125514d5365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eee84a44b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9eee84a44b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eee84a44b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eee84a44b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596f55b70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596f55b70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9eee84a44b_1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9eee84a44b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eee84a44b_1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9eee84a44b_1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596f55b70c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596f55b70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fc3e78840_3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fc3e78840_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f2b97644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9f2b97644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fc3e78840_3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fc3e78840_3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eee84a44b_1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9eee84a44b_1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eee84a44b_1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9eee84a44b_1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eee84a44b_1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9eee84a44b_1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5a5db83d97_0_5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5a5db83d97_0_5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eee84a44b_1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9eee84a44b_1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f2b976441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9f2b97644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eee84a44b_1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9eee84a44b_1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eee84a44b_1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9eee84a44b_1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9eee84a44b_1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9eee84a44b_1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eee84a44b_1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9eee84a44b_1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9eee84a44b_1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9eee84a44b_1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9eee84a44b_1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9eee84a44b_1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 Logo">
  <p:cSld name="BLANK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0F0F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"/>
              <a:buNone/>
              <a:defRPr b="1" sz="2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"/>
              <a:buNone/>
              <a:defRPr sz="2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"/>
              <a:buNone/>
              <a:defRPr sz="2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"/>
              <a:buNone/>
              <a:defRPr sz="2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"/>
              <a:buNone/>
              <a:defRPr sz="2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"/>
              <a:buNone/>
              <a:defRPr sz="2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"/>
              <a:buNone/>
              <a:defRPr sz="2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"/>
              <a:buNone/>
              <a:defRPr sz="2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"/>
              <a:buNone/>
              <a:defRPr sz="2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ogle Sans"/>
              <a:buChar char="●"/>
              <a:defRPr sz="25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 Light"/>
              <a:buChar char="○"/>
              <a:defRPr sz="16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 Light"/>
              <a:buChar char="■"/>
              <a:defRPr sz="16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 Light"/>
              <a:buChar char="●"/>
              <a:defRPr sz="16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 Light"/>
              <a:buChar char="○"/>
              <a:defRPr sz="16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 Light"/>
              <a:buChar char="■"/>
              <a:defRPr sz="16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 Light"/>
              <a:buChar char="●"/>
              <a:defRPr sz="16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 Light"/>
              <a:buChar char="○"/>
              <a:defRPr sz="16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 Light"/>
              <a:buChar char="■"/>
              <a:defRPr sz="16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github.com/google-gemini/gemini-cli" TargetMode="External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hyperlink" Target="https://www.opportunitiesforafricans.com/" TargetMode="External"/><Relationship Id="rId5" Type="http://schemas.openxmlformats.org/officeDocument/2006/relationships/hyperlink" Target="https://opportunitydesk.org/" TargetMode="External"/><Relationship Id="rId6" Type="http://schemas.openxmlformats.org/officeDocument/2006/relationships/hyperlink" Target="https://opportunitiesforyouth.org/" TargetMode="External"/><Relationship Id="rId7" Type="http://schemas.openxmlformats.org/officeDocument/2006/relationships/hyperlink" Target="https://www.globalsouthopportunities.com/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://oliverwainaina.co.ke" TargetMode="External"/><Relationship Id="rId4" Type="http://schemas.openxmlformats.org/officeDocument/2006/relationships/hyperlink" Target="http://oliverwainaina.co.ke" TargetMode="External"/><Relationship Id="rId5" Type="http://schemas.openxmlformats.org/officeDocument/2006/relationships/image" Target="../media/image11.png"/><Relationship Id="rId6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/>
        </p:nvSpPr>
        <p:spPr>
          <a:xfrm>
            <a:off x="826989" y="890293"/>
            <a:ext cx="16599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Sarit</a:t>
            </a:r>
            <a:endParaRPr sz="95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" name="Google Shape;18;p4"/>
          <p:cNvSpPr txBox="1"/>
          <p:nvPr/>
        </p:nvSpPr>
        <p:spPr>
          <a:xfrm>
            <a:off x="812542" y="3819938"/>
            <a:ext cx="4294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Oliver Wainaina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Tech Lead, Sauti Salama; Tusonge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sp>
        <p:nvSpPr>
          <p:cNvPr id="19" name="Google Shape;19;p4"/>
          <p:cNvSpPr txBox="1"/>
          <p:nvPr/>
        </p:nvSpPr>
        <p:spPr>
          <a:xfrm>
            <a:off x="812550" y="1518800"/>
            <a:ext cx="7445700" cy="1781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Building Technology for Social Impact</a:t>
            </a:r>
            <a:endParaRPr b="1" sz="4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0" name="Google Shape;20;p4"/>
          <p:cNvSpPr txBox="1"/>
          <p:nvPr/>
        </p:nvSpPr>
        <p:spPr>
          <a:xfrm>
            <a:off x="6648180" y="481468"/>
            <a:ext cx="1953300" cy="9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rgbClr val="1E1E1E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2025</a:t>
            </a:r>
            <a:endParaRPr sz="4500">
              <a:solidFill>
                <a:srgbClr val="1E1E1E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5" title="me.jpg"/>
          <p:cNvPicPr preferRelativeResize="0"/>
          <p:nvPr/>
        </p:nvPicPr>
        <p:blipFill rotWithShape="1">
          <a:blip r:embed="rId3">
            <a:alphaModFix/>
          </a:blip>
          <a:srcRect b="0" l="14270" r="14270" t="0"/>
          <a:stretch/>
        </p:blipFill>
        <p:spPr>
          <a:xfrm>
            <a:off x="4991682" y="43221"/>
            <a:ext cx="4157701" cy="5271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5" title="DF25_PresentationTemplate_Title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-103994"/>
            <a:ext cx="914404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5"/>
          <p:cNvSpPr txBox="1"/>
          <p:nvPr/>
        </p:nvSpPr>
        <p:spPr>
          <a:xfrm>
            <a:off x="826989" y="793727"/>
            <a:ext cx="16599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Sarit</a:t>
            </a:r>
            <a:endParaRPr sz="95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8" name="Google Shape;28;p5"/>
          <p:cNvSpPr txBox="1"/>
          <p:nvPr/>
        </p:nvSpPr>
        <p:spPr>
          <a:xfrm>
            <a:off x="410375" y="3615876"/>
            <a:ext cx="42942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600"/>
              <a:buFont typeface="Roboto Mono Light"/>
              <a:buAutoNum type="arabicPeriod"/>
            </a:pPr>
            <a:r>
              <a:rPr lang="en" sz="16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The Spark: First time at a computer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600"/>
              <a:buFont typeface="Roboto Mono Light"/>
              <a:buAutoNum type="arabicPeriod"/>
            </a:pPr>
            <a:r>
              <a:rPr lang="en" sz="16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Software Dev → Pitch Preneur → Social Impact Tech Lead.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sp>
        <p:nvSpPr>
          <p:cNvPr id="29" name="Google Shape;29;p5"/>
          <p:cNvSpPr txBox="1"/>
          <p:nvPr/>
        </p:nvSpPr>
        <p:spPr>
          <a:xfrm>
            <a:off x="369100" y="1436150"/>
            <a:ext cx="45270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From Curious Beginner to Founder</a:t>
            </a:r>
            <a:endParaRPr b="1" sz="4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/>
        </p:nvSpPr>
        <p:spPr>
          <a:xfrm>
            <a:off x="623912" y="459000"/>
            <a:ext cx="1953300" cy="9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100">
                <a:solidFill>
                  <a:srgbClr val="1E1E1E"/>
                </a:solidFill>
                <a:latin typeface="Roboto Mono Thin"/>
                <a:ea typeface="Roboto Mono Thin"/>
                <a:cs typeface="Roboto Mono Thin"/>
                <a:sym typeface="Roboto Mono Thin"/>
              </a:rPr>
              <a:t>02</a:t>
            </a:r>
            <a:endParaRPr sz="6100">
              <a:solidFill>
                <a:srgbClr val="1E1E1E"/>
              </a:solidFill>
              <a:latin typeface="Roboto Mono Thin"/>
              <a:ea typeface="Roboto Mono Thin"/>
              <a:cs typeface="Roboto Mono Thin"/>
              <a:sym typeface="Roboto Mono Thin"/>
            </a:endParaRPr>
          </a:p>
        </p:txBody>
      </p:sp>
      <p:sp>
        <p:nvSpPr>
          <p:cNvPr id="35" name="Google Shape;35;p6"/>
          <p:cNvSpPr txBox="1"/>
          <p:nvPr/>
        </p:nvSpPr>
        <p:spPr>
          <a:xfrm>
            <a:off x="3267106" y="781192"/>
            <a:ext cx="5211000" cy="25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The Problem: Pain Is the Currency</a:t>
            </a:r>
            <a:endParaRPr b="1" sz="4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6" name="Google Shape;36;p6"/>
          <p:cNvSpPr txBox="1"/>
          <p:nvPr/>
        </p:nvSpPr>
        <p:spPr>
          <a:xfrm>
            <a:off x="3267100" y="2911574"/>
            <a:ext cx="2856000" cy="15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E1E1E"/>
                </a:solidFill>
                <a:latin typeface="Roboto Mono"/>
                <a:ea typeface="Roboto Mono"/>
                <a:cs typeface="Roboto Mono"/>
                <a:sym typeface="Roboto Mono"/>
              </a:rPr>
              <a:t>Case Study:</a:t>
            </a:r>
            <a:endParaRPr b="1" sz="1800">
              <a:solidFill>
                <a:srgbClr val="1E1E1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Witnessing abuse and listening to stories of abuse.</a:t>
            </a:r>
            <a:endParaRPr sz="18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/>
          <p:nvPr/>
        </p:nvSpPr>
        <p:spPr>
          <a:xfrm>
            <a:off x="308125" y="323700"/>
            <a:ext cx="4500300" cy="693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More than</a:t>
            </a:r>
            <a:endParaRPr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sp>
        <p:nvSpPr>
          <p:cNvPr id="42" name="Google Shape;42;p7"/>
          <p:cNvSpPr/>
          <p:nvPr/>
        </p:nvSpPr>
        <p:spPr>
          <a:xfrm>
            <a:off x="308125" y="3559800"/>
            <a:ext cx="4500300" cy="12591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Of Kenyan women experience abuse at one point in their lives</a:t>
            </a:r>
            <a:endParaRPr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sp>
        <p:nvSpPr>
          <p:cNvPr id="43" name="Google Shape;43;p7"/>
          <p:cNvSpPr/>
          <p:nvPr/>
        </p:nvSpPr>
        <p:spPr>
          <a:xfrm>
            <a:off x="5072010" y="323700"/>
            <a:ext cx="1111500" cy="1111500"/>
          </a:xfrm>
          <a:prstGeom prst="ellipse">
            <a:avLst/>
          </a:prstGeom>
          <a:solidFill>
            <a:srgbClr val="FFE79C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sp>
        <p:nvSpPr>
          <p:cNvPr id="44" name="Google Shape;44;p7"/>
          <p:cNvSpPr/>
          <p:nvPr/>
        </p:nvSpPr>
        <p:spPr>
          <a:xfrm>
            <a:off x="7744135" y="3707705"/>
            <a:ext cx="1111500" cy="1111500"/>
          </a:xfrm>
          <a:prstGeom prst="ellipse">
            <a:avLst/>
          </a:prstGeom>
          <a:solidFill>
            <a:srgbClr val="FED7D7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sp>
        <p:nvSpPr>
          <p:cNvPr id="45" name="Google Shape;45;p7"/>
          <p:cNvSpPr/>
          <p:nvPr/>
        </p:nvSpPr>
        <p:spPr>
          <a:xfrm>
            <a:off x="4960025" y="323700"/>
            <a:ext cx="2746500" cy="4495500"/>
          </a:xfrm>
          <a:prstGeom prst="parallelogram">
            <a:avLst>
              <a:gd fmla="val 65106" name="adj"/>
            </a:avLst>
          </a:prstGeom>
          <a:solidFill>
            <a:srgbClr val="C3ECF6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3ECF6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pic>
        <p:nvPicPr>
          <p:cNvPr id="46" name="Google Shape;4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170" y="1368424"/>
            <a:ext cx="377934" cy="2411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4411048" y="1368424"/>
            <a:ext cx="377934" cy="2411074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7"/>
          <p:cNvSpPr/>
          <p:nvPr/>
        </p:nvSpPr>
        <p:spPr>
          <a:xfrm>
            <a:off x="6146607" y="323700"/>
            <a:ext cx="2746500" cy="4495500"/>
          </a:xfrm>
          <a:prstGeom prst="parallelogram">
            <a:avLst>
              <a:gd fmla="val 65106" name="adj"/>
            </a:avLst>
          </a:prstGeom>
          <a:solidFill>
            <a:srgbClr val="C1F8C0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sp>
        <p:nvSpPr>
          <p:cNvPr id="49" name="Google Shape;49;p7"/>
          <p:cNvSpPr txBox="1"/>
          <p:nvPr>
            <p:ph idx="4294967295" type="title"/>
          </p:nvPr>
        </p:nvSpPr>
        <p:spPr>
          <a:xfrm>
            <a:off x="332175" y="1831775"/>
            <a:ext cx="4456800" cy="146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n" sz="11000">
                <a:solidFill>
                  <a:srgbClr val="1E1E1E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44</a:t>
            </a:r>
            <a:r>
              <a:rPr b="0" lang="en" sz="11000">
                <a:solidFill>
                  <a:srgbClr val="1E1E1E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%</a:t>
            </a:r>
            <a:endParaRPr b="0" sz="11000">
              <a:solidFill>
                <a:srgbClr val="1E1E1E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8" title="DF25_PresentationTemplate_Title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" y="0"/>
            <a:ext cx="914404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8"/>
          <p:cNvSpPr txBox="1"/>
          <p:nvPr/>
        </p:nvSpPr>
        <p:spPr>
          <a:xfrm>
            <a:off x="848075" y="772785"/>
            <a:ext cx="71640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The Reporting Barrier: </a:t>
            </a:r>
            <a:endParaRPr b="1" sz="30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1" lang="en" sz="2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Why the statistics are low</a:t>
            </a:r>
            <a:endParaRPr b="1" i="1" sz="20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b="1"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Stigma:</a:t>
            </a: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 Not a problem for the marginalized alone; wealthy and men suffer in silence too.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b="1"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High Cost:</a:t>
            </a: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 Loss of credibility for professionals (the ultimate vulnerability).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/>
          <p:nvPr/>
        </p:nvSpPr>
        <p:spPr>
          <a:xfrm>
            <a:off x="623912" y="459000"/>
            <a:ext cx="1953300" cy="9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100">
                <a:solidFill>
                  <a:srgbClr val="1E1E1E"/>
                </a:solidFill>
                <a:latin typeface="Roboto Mono Thin"/>
                <a:ea typeface="Roboto Mono Thin"/>
                <a:cs typeface="Roboto Mono Thin"/>
                <a:sym typeface="Roboto Mono Thin"/>
              </a:rPr>
              <a:t>03</a:t>
            </a:r>
            <a:endParaRPr sz="6100">
              <a:solidFill>
                <a:srgbClr val="1E1E1E"/>
              </a:solidFill>
              <a:latin typeface="Roboto Mono Thin"/>
              <a:ea typeface="Roboto Mono Thin"/>
              <a:cs typeface="Roboto Mono Thin"/>
              <a:sym typeface="Roboto Mono Thin"/>
            </a:endParaRPr>
          </a:p>
        </p:txBody>
      </p:sp>
      <p:sp>
        <p:nvSpPr>
          <p:cNvPr id="61" name="Google Shape;61;p9"/>
          <p:cNvSpPr txBox="1"/>
          <p:nvPr/>
        </p:nvSpPr>
        <p:spPr>
          <a:xfrm>
            <a:off x="3034250" y="781200"/>
            <a:ext cx="5443800" cy="25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Flaw in Digital-First Thinking</a:t>
            </a:r>
            <a:endParaRPr b="1" sz="4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2" name="Google Shape;62;p9"/>
          <p:cNvSpPr txBox="1"/>
          <p:nvPr/>
        </p:nvSpPr>
        <p:spPr>
          <a:xfrm>
            <a:off x="3267100" y="2911574"/>
            <a:ext cx="2856000" cy="15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How many of us have kenyan apps made by other people (not safaricom / mpesa)?</a:t>
            </a:r>
            <a:endParaRPr sz="18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/>
        </p:nvSpPr>
        <p:spPr>
          <a:xfrm>
            <a:off x="6695494" y="890300"/>
            <a:ext cx="16566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Sarit Centre</a:t>
            </a:r>
            <a:endParaRPr sz="95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8" name="Google Shape;68;p10"/>
          <p:cNvSpPr txBox="1"/>
          <p:nvPr/>
        </p:nvSpPr>
        <p:spPr>
          <a:xfrm>
            <a:off x="1448175" y="1296375"/>
            <a:ext cx="3506100" cy="24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The Pre-Scale Rule: </a:t>
            </a: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First, we must build a personal, face-to-face </a:t>
            </a:r>
            <a:r>
              <a:rPr b="1"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(F2F)</a:t>
            </a: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b="1"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solution</a:t>
            </a: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 (trust), and then build software to automate and scale.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/>
        </p:nvSpPr>
        <p:spPr>
          <a:xfrm>
            <a:off x="546500" y="1518800"/>
            <a:ext cx="3034200" cy="12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Introducing…</a:t>
            </a:r>
            <a:endParaRPr sz="29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74" name="Google Shape;74;p11" title="Sauti Salama.png"/>
          <p:cNvPicPr preferRelativeResize="0"/>
          <p:nvPr/>
        </p:nvPicPr>
        <p:blipFill rotWithShape="1">
          <a:blip r:embed="rId3">
            <a:alphaModFix/>
          </a:blip>
          <a:srcRect b="19483" l="0" r="0" t="21116"/>
          <a:stretch/>
        </p:blipFill>
        <p:spPr>
          <a:xfrm>
            <a:off x="3861150" y="705925"/>
            <a:ext cx="5143501" cy="30552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/>
        </p:nvSpPr>
        <p:spPr>
          <a:xfrm>
            <a:off x="623912" y="459000"/>
            <a:ext cx="1953300" cy="9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100">
                <a:solidFill>
                  <a:srgbClr val="1E1E1E"/>
                </a:solidFill>
                <a:latin typeface="Roboto Mono Thin"/>
                <a:ea typeface="Roboto Mono Thin"/>
                <a:cs typeface="Roboto Mono Thin"/>
                <a:sym typeface="Roboto Mono Thin"/>
              </a:rPr>
              <a:t>03</a:t>
            </a:r>
            <a:endParaRPr sz="6100">
              <a:solidFill>
                <a:srgbClr val="1E1E1E"/>
              </a:solidFill>
              <a:latin typeface="Roboto Mono Thin"/>
              <a:ea typeface="Roboto Mono Thin"/>
              <a:cs typeface="Roboto Mono Thin"/>
              <a:sym typeface="Roboto Mono Thin"/>
            </a:endParaRPr>
          </a:p>
        </p:txBody>
      </p:sp>
      <p:sp>
        <p:nvSpPr>
          <p:cNvPr id="80" name="Google Shape;80;p12"/>
          <p:cNvSpPr txBox="1"/>
          <p:nvPr/>
        </p:nvSpPr>
        <p:spPr>
          <a:xfrm>
            <a:off x="3034250" y="781200"/>
            <a:ext cx="5696100" cy="20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Designing from First Principles: </a:t>
            </a:r>
            <a:endParaRPr b="1" sz="4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1" name="Google Shape;81;p12"/>
          <p:cNvSpPr txBox="1"/>
          <p:nvPr/>
        </p:nvSpPr>
        <p:spPr>
          <a:xfrm>
            <a:off x="3267100" y="2911574"/>
            <a:ext cx="2856000" cy="15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Roboto Mono Light"/>
              <a:buChar char="●"/>
            </a:pPr>
            <a:r>
              <a:rPr lang="en" sz="18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Building With, Not For</a:t>
            </a:r>
            <a:endParaRPr sz="18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/>
        </p:nvSpPr>
        <p:spPr>
          <a:xfrm>
            <a:off x="6695494" y="890300"/>
            <a:ext cx="16566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Sarit Centre</a:t>
            </a:r>
            <a:endParaRPr sz="95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1448179" y="1696565"/>
            <a:ext cx="3506100" cy="167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The Principle: </a:t>
            </a: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"If I am not in the room and the solution is meant for me, then the solution is against me."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/>
        </p:nvSpPr>
        <p:spPr>
          <a:xfrm>
            <a:off x="3724875" y="843308"/>
            <a:ext cx="5211000" cy="6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3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Empathy Mapping</a:t>
            </a:r>
            <a:endParaRPr b="1" sz="4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3724882" y="1560174"/>
            <a:ext cx="3629400" cy="9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Building with Privacy in mind (not just a legal clause). The solution must not compound builders' pain points only.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826989" y="890293"/>
            <a:ext cx="16599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Sarit Centre</a:t>
            </a:r>
            <a:endParaRPr sz="950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6202" y="-84549"/>
            <a:ext cx="4292576" cy="5374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 title="DF25_PresentationTemplate_PhotoCollage3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4248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654927" y="694800"/>
            <a:ext cx="3458400" cy="37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Survivors Caffe sessions were used to get feedback from survivors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/>
        </p:nvSpPr>
        <p:spPr>
          <a:xfrm>
            <a:off x="826989" y="890293"/>
            <a:ext cx="16599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Sarice Centre</a:t>
            </a:r>
            <a:endParaRPr sz="95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7" name="Google Shape;107;p16"/>
          <p:cNvSpPr/>
          <p:nvPr/>
        </p:nvSpPr>
        <p:spPr>
          <a:xfrm>
            <a:off x="3553822" y="1880539"/>
            <a:ext cx="2131200" cy="615000"/>
          </a:xfrm>
          <a:prstGeom prst="roundRect">
            <a:avLst>
              <a:gd fmla="val 18087" name="adj"/>
            </a:avLst>
          </a:prstGeom>
          <a:solidFill>
            <a:srgbClr val="F8D8D8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Flutter App</a:t>
            </a:r>
            <a:endParaRPr sz="11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6401122" y="1880541"/>
            <a:ext cx="2131200" cy="615000"/>
          </a:xfrm>
          <a:prstGeom prst="roundRect">
            <a:avLst>
              <a:gd fmla="val 18087" name="adj"/>
            </a:avLst>
          </a:prstGeom>
          <a:solidFill>
            <a:srgbClr val="CCF6C5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Web App</a:t>
            </a:r>
            <a:endParaRPr sz="11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109" name="Google Shape;109;p16"/>
          <p:cNvCxnSpPr/>
          <p:nvPr/>
        </p:nvCxnSpPr>
        <p:spPr>
          <a:xfrm flipH="1" rot="10800000">
            <a:off x="5685022" y="2187291"/>
            <a:ext cx="716100" cy="1500"/>
          </a:xfrm>
          <a:prstGeom prst="straightConnector1">
            <a:avLst/>
          </a:prstGeom>
          <a:noFill/>
          <a:ln cap="flat" cmpd="sng" w="19050">
            <a:solidFill>
              <a:srgbClr val="1E1E1E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0" name="Google Shape;110;p16"/>
          <p:cNvSpPr txBox="1"/>
          <p:nvPr/>
        </p:nvSpPr>
        <p:spPr>
          <a:xfrm>
            <a:off x="3553825" y="876208"/>
            <a:ext cx="5211000" cy="6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3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Empathy</a:t>
            </a:r>
            <a:r>
              <a:rPr b="1" lang="en" sz="3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 Mapping</a:t>
            </a:r>
            <a:endParaRPr b="1" sz="4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/>
        </p:nvSpPr>
        <p:spPr>
          <a:xfrm>
            <a:off x="623912" y="459000"/>
            <a:ext cx="1953300" cy="9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100">
                <a:solidFill>
                  <a:srgbClr val="1E1E1E"/>
                </a:solidFill>
                <a:latin typeface="Roboto Mono Thin"/>
                <a:ea typeface="Roboto Mono Thin"/>
                <a:cs typeface="Roboto Mono Thin"/>
                <a:sym typeface="Roboto Mono Thin"/>
              </a:rPr>
              <a:t>04</a:t>
            </a:r>
            <a:endParaRPr sz="6100">
              <a:solidFill>
                <a:srgbClr val="1E1E1E"/>
              </a:solidFill>
              <a:latin typeface="Roboto Mono Thin"/>
              <a:ea typeface="Roboto Mono Thin"/>
              <a:cs typeface="Roboto Mono Thin"/>
              <a:sym typeface="Roboto Mono Thin"/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3034250" y="781200"/>
            <a:ext cx="5443800" cy="25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Building a Safe Digital Haven on the Cloud</a:t>
            </a:r>
            <a:endParaRPr b="1" sz="4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3267100" y="2911574"/>
            <a:ext cx="2856000" cy="15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Google Cloud Platform </a:t>
            </a:r>
            <a:r>
              <a:rPr b="1" lang="en" sz="1800">
                <a:solidFill>
                  <a:srgbClr val="1E1E1E"/>
                </a:solidFill>
                <a:latin typeface="Roboto Mono"/>
                <a:ea typeface="Roboto Mono"/>
                <a:cs typeface="Roboto Mono"/>
                <a:sym typeface="Roboto Mono"/>
              </a:rPr>
              <a:t>(GCP)</a:t>
            </a:r>
            <a:r>
              <a:rPr lang="en" sz="18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 and </a:t>
            </a:r>
            <a:r>
              <a:rPr b="1" lang="en" sz="1800">
                <a:solidFill>
                  <a:srgbClr val="1E1E1E"/>
                </a:solidFill>
                <a:latin typeface="Roboto Mono"/>
                <a:ea typeface="Roboto Mono"/>
                <a:cs typeface="Roboto Mono"/>
                <a:sym typeface="Roboto Mono"/>
              </a:rPr>
              <a:t>Firebase</a:t>
            </a:r>
            <a:r>
              <a:rPr lang="en" sz="18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 for reliability and scalability.</a:t>
            </a:r>
            <a:endParaRPr sz="18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/>
        </p:nvSpPr>
        <p:spPr>
          <a:xfrm>
            <a:off x="304725" y="884950"/>
            <a:ext cx="4312800" cy="29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Rapid Prototyping:</a:t>
            </a:r>
            <a:r>
              <a:rPr lang="en" sz="29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 Using Gemini for quick prototypes and MVPs</a:t>
            </a:r>
            <a:endParaRPr sz="29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900"/>
              <a:buFont typeface="Google Sans"/>
              <a:buChar char="●"/>
            </a:pPr>
            <a:r>
              <a:rPr lang="en" sz="29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Gemini Cli</a:t>
            </a:r>
            <a:endParaRPr sz="29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100"/>
              <a:buFont typeface="Roboto Mono Light"/>
              <a:buChar char="○"/>
            </a:pPr>
            <a:r>
              <a:rPr b="1" lang="en" sz="1600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  <a:hlinkClick r:id="rId3"/>
              </a:rPr>
              <a:t>https://github.com/google-gemini/gemini-cli</a:t>
            </a:r>
            <a:br>
              <a:rPr b="1" lang="en" sz="1600">
                <a:solidFill>
                  <a:srgbClr val="1E1E1E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b="1" sz="1600">
              <a:solidFill>
                <a:srgbClr val="1E1E1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23" name="Google Shape;12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2475" y="950688"/>
            <a:ext cx="2667000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/>
          <p:nvPr/>
        </p:nvSpPr>
        <p:spPr>
          <a:xfrm>
            <a:off x="623912" y="459000"/>
            <a:ext cx="1953300" cy="9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100">
                <a:solidFill>
                  <a:srgbClr val="1E1E1E"/>
                </a:solidFill>
                <a:latin typeface="Roboto Mono Thin"/>
                <a:ea typeface="Roboto Mono Thin"/>
                <a:cs typeface="Roboto Mono Thin"/>
                <a:sym typeface="Roboto Mono Thin"/>
              </a:rPr>
              <a:t>05</a:t>
            </a:r>
            <a:endParaRPr sz="6100">
              <a:solidFill>
                <a:srgbClr val="1E1E1E"/>
              </a:solidFill>
              <a:latin typeface="Roboto Mono Thin"/>
              <a:ea typeface="Roboto Mono Thin"/>
              <a:cs typeface="Roboto Mono Thin"/>
              <a:sym typeface="Roboto Mono Thin"/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3034250" y="781200"/>
            <a:ext cx="5443800" cy="25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4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Partnerships: Scaling Trust by Connecting Dots</a:t>
            </a:r>
            <a:endParaRPr b="1" sz="4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3267100" y="2911574"/>
            <a:ext cx="2856000" cy="15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Leveraging Existing Ecosystems</a:t>
            </a:r>
            <a:endParaRPr sz="18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0" title="DF25_PresentationTemplate_Title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" y="0"/>
            <a:ext cx="914404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0"/>
          <p:cNvSpPr txBox="1"/>
          <p:nvPr/>
        </p:nvSpPr>
        <p:spPr>
          <a:xfrm>
            <a:off x="848075" y="772782"/>
            <a:ext cx="7164000" cy="11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sp>
        <p:nvSpPr>
          <p:cNvPr id="137" name="Google Shape;137;p20"/>
          <p:cNvSpPr txBox="1"/>
          <p:nvPr/>
        </p:nvSpPr>
        <p:spPr>
          <a:xfrm>
            <a:off x="848075" y="1427401"/>
            <a:ext cx="7164000" cy="22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b="1"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Stakeholder Synergy:</a:t>
            </a: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 Partner with stakeholders already solving the problem (e.g., existing trauma centers, legal aid NGOs). The tech layer is an enabler, not a replacement.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1" title="DF25_PresentationTemplate_Title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" y="0"/>
            <a:ext cx="914404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1"/>
          <p:cNvSpPr txBox="1"/>
          <p:nvPr/>
        </p:nvSpPr>
        <p:spPr>
          <a:xfrm>
            <a:off x="848075" y="800800"/>
            <a:ext cx="71640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b="1"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Building in Public: </a:t>
            </a: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The power of Open Sourcing components of the solution.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1" marL="91440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1100"/>
              <a:buFont typeface="Roboto Mono Light"/>
              <a:buChar char="○"/>
            </a:pPr>
            <a:r>
              <a:rPr b="1" lang="en" sz="1600">
                <a:solidFill>
                  <a:srgbClr val="1E1E1E"/>
                </a:solidFill>
                <a:latin typeface="Roboto Mono"/>
                <a:ea typeface="Roboto Mono"/>
                <a:cs typeface="Roboto Mono"/>
                <a:sym typeface="Roboto Mono"/>
              </a:rPr>
              <a:t>Benefits: </a:t>
            </a:r>
            <a:r>
              <a:rPr lang="en" sz="16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Attracts talent, ensures code is vetted for security, and builds public credibility and trust.</a:t>
            </a:r>
            <a:endParaRPr i="1"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5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Google's Support: Free Tier, WIT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i="1"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Tusonge as a Case study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usonge hero — wheelchair on Kenyan terrain" id="148" name="Google Shape;148;p22"/>
          <p:cNvPicPr preferRelativeResize="0"/>
          <p:nvPr/>
        </p:nvPicPr>
        <p:blipFill rotWithShape="1">
          <a:blip r:embed="rId3">
            <a:alphaModFix/>
          </a:blip>
          <a:srcRect b="0" l="2676" r="7500" t="0"/>
          <a:stretch/>
        </p:blipFill>
        <p:spPr>
          <a:xfrm>
            <a:off x="4051145" y="361200"/>
            <a:ext cx="4714774" cy="441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2" title="DF25_PresentationTemplate_PhotoCollage4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2"/>
          <p:cNvSpPr/>
          <p:nvPr/>
        </p:nvSpPr>
        <p:spPr>
          <a:xfrm>
            <a:off x="398925" y="415800"/>
            <a:ext cx="3875400" cy="4357500"/>
          </a:xfrm>
          <a:prstGeom prst="flowChartAlternateProcess">
            <a:avLst/>
          </a:prstGeom>
          <a:solidFill>
            <a:srgbClr val="FFE599"/>
          </a:solidFill>
          <a:ln cap="flat" cmpd="sng" w="184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325" lIns="88325" spcFirstLastPara="1" rIns="88325" wrap="square" tIns="88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2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descr="Front module — compact power" id="151" name="Google Shape;151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5319" y="832914"/>
            <a:ext cx="3522373" cy="366609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2"/>
          <p:cNvSpPr txBox="1"/>
          <p:nvPr/>
        </p:nvSpPr>
        <p:spPr>
          <a:xfrm>
            <a:off x="5134600" y="4804725"/>
            <a:ext cx="2691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>
                <a:solidFill>
                  <a:srgbClr val="999999"/>
                </a:solidFill>
              </a:rPr>
              <a:t>Images from tusonge.co.ke</a:t>
            </a:r>
            <a:endParaRPr sz="400"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/>
        </p:nvSpPr>
        <p:spPr>
          <a:xfrm>
            <a:off x="623912" y="459000"/>
            <a:ext cx="1953300" cy="9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100">
                <a:solidFill>
                  <a:srgbClr val="1E1E1E"/>
                </a:solidFill>
                <a:latin typeface="Roboto Mono Thin"/>
                <a:ea typeface="Roboto Mono Thin"/>
                <a:cs typeface="Roboto Mono Thin"/>
                <a:sym typeface="Roboto Mono Thin"/>
              </a:rPr>
              <a:t>06</a:t>
            </a:r>
            <a:endParaRPr sz="6100">
              <a:solidFill>
                <a:srgbClr val="1E1E1E"/>
              </a:solidFill>
              <a:latin typeface="Roboto Mono Thin"/>
              <a:ea typeface="Roboto Mono Thin"/>
              <a:cs typeface="Roboto Mono Thin"/>
              <a:sym typeface="Roboto Mono Thin"/>
            </a:endParaRPr>
          </a:p>
        </p:txBody>
      </p:sp>
      <p:sp>
        <p:nvSpPr>
          <p:cNvPr id="158" name="Google Shape;158;p23"/>
          <p:cNvSpPr txBox="1"/>
          <p:nvPr/>
        </p:nvSpPr>
        <p:spPr>
          <a:xfrm>
            <a:off x="3034250" y="781200"/>
            <a:ext cx="5443800" cy="25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The "Be Water" Strategy: Pitching the Nexus</a:t>
            </a:r>
            <a:endParaRPr b="1" sz="4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9" name="Google Shape;159;p23"/>
          <p:cNvSpPr txBox="1"/>
          <p:nvPr/>
        </p:nvSpPr>
        <p:spPr>
          <a:xfrm>
            <a:off x="3267100" y="2911575"/>
            <a:ext cx="3467100" cy="15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D</a:t>
            </a:r>
            <a:r>
              <a:rPr lang="en" sz="18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esign your pitches based on the themes of available funding opportunities.</a:t>
            </a:r>
            <a:endParaRPr sz="18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4" title="DF25_PresentationTemplate_Title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" y="0"/>
            <a:ext cx="914404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4"/>
          <p:cNvSpPr txBox="1"/>
          <p:nvPr/>
        </p:nvSpPr>
        <p:spPr>
          <a:xfrm>
            <a:off x="855075" y="532575"/>
            <a:ext cx="7164000" cy="40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Find the nexus between your solution 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1" marL="91440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1100"/>
              <a:buFont typeface="Roboto Mono Light"/>
              <a:buChar char="○"/>
            </a:pPr>
            <a:r>
              <a:rPr lang="en" sz="16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(e.g., Sauti Salama's AI/ML) and the funder's problem (e.g., Tech for Climate Resilience, Digital Inclusion, Human Rights)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b="1"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Traction is King: </a:t>
            </a: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People fund traction, not ideas. Show users, connections, and iteration cycles.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1" marL="91440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1100"/>
              <a:buFont typeface="Roboto Mono Light"/>
              <a:buChar char="○"/>
            </a:pPr>
            <a:r>
              <a:rPr lang="en" sz="16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The Payd Story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1E1E1E"/>
              </a:buClr>
              <a:buSzPts val="1600"/>
              <a:buFont typeface="Roboto Mono"/>
              <a:buChar char="●"/>
            </a:pPr>
            <a:r>
              <a:rPr b="1"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3 Fs - </a:t>
            </a: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Friends Family, Fools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5" title="DF25_PresentationTemplate_Title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" y="0"/>
            <a:ext cx="914404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5"/>
          <p:cNvSpPr txBox="1"/>
          <p:nvPr/>
        </p:nvSpPr>
        <p:spPr>
          <a:xfrm>
            <a:off x="834050" y="926935"/>
            <a:ext cx="71640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 u="sng">
                <a:solidFill>
                  <a:schemeClr val="hlink"/>
                </a:solidFill>
                <a:latin typeface="Google Sans"/>
                <a:ea typeface="Google Sans"/>
                <a:cs typeface="Google Sans"/>
                <a:sym typeface="Google Sans"/>
                <a:hlinkClick r:id="rId4"/>
              </a:rPr>
              <a:t>https://www.opportunitiesforafricans.com/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 u="sng">
                <a:solidFill>
                  <a:schemeClr val="hlink"/>
                </a:solidFill>
                <a:latin typeface="Google Sans"/>
                <a:ea typeface="Google Sans"/>
                <a:cs typeface="Google Sans"/>
                <a:sym typeface="Google Sans"/>
                <a:hlinkClick r:id="rId5"/>
              </a:rPr>
              <a:t>https://opportunitydesk.org/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 u="sng">
                <a:solidFill>
                  <a:schemeClr val="hlink"/>
                </a:solidFill>
                <a:latin typeface="Google Sans"/>
                <a:ea typeface="Google Sans"/>
                <a:cs typeface="Google Sans"/>
                <a:sym typeface="Google Sans"/>
                <a:hlinkClick r:id="rId6"/>
              </a:rPr>
              <a:t>https://opportunitiesforyouth.org/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 u="sng">
                <a:solidFill>
                  <a:schemeClr val="hlink"/>
                </a:solidFill>
                <a:latin typeface="Google Sans"/>
                <a:ea typeface="Google Sans"/>
                <a:cs typeface="Google Sans"/>
                <a:sym typeface="Google Sans"/>
                <a:hlinkClick r:id="rId7"/>
              </a:rPr>
              <a:t>https://www.globalsouthopportunities.com/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"/>
          <p:cNvSpPr txBox="1"/>
          <p:nvPr/>
        </p:nvSpPr>
        <p:spPr>
          <a:xfrm>
            <a:off x="623912" y="459000"/>
            <a:ext cx="1953300" cy="9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100">
                <a:solidFill>
                  <a:srgbClr val="1E1E1E"/>
                </a:solidFill>
                <a:latin typeface="Roboto Mono Thin"/>
                <a:ea typeface="Roboto Mono Thin"/>
                <a:cs typeface="Roboto Mono Thin"/>
                <a:sym typeface="Roboto Mono Thin"/>
              </a:rPr>
              <a:t>07</a:t>
            </a:r>
            <a:endParaRPr sz="6100">
              <a:solidFill>
                <a:srgbClr val="1E1E1E"/>
              </a:solidFill>
              <a:latin typeface="Roboto Mono Thin"/>
              <a:ea typeface="Roboto Mono Thin"/>
              <a:cs typeface="Roboto Mono Thin"/>
              <a:sym typeface="Roboto Mono Thin"/>
            </a:endParaRPr>
          </a:p>
        </p:txBody>
      </p:sp>
      <p:sp>
        <p:nvSpPr>
          <p:cNvPr id="177" name="Google Shape;177;p26"/>
          <p:cNvSpPr txBox="1"/>
          <p:nvPr/>
        </p:nvSpPr>
        <p:spPr>
          <a:xfrm>
            <a:off x="3034250" y="781200"/>
            <a:ext cx="5443800" cy="25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Claim to Fame: The Traction that Matters 🏆</a:t>
            </a:r>
            <a:endParaRPr b="1" sz="4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8" name="Google Shape;178;p26"/>
          <p:cNvSpPr txBox="1"/>
          <p:nvPr/>
        </p:nvSpPr>
        <p:spPr>
          <a:xfrm>
            <a:off x="3267100" y="2911575"/>
            <a:ext cx="3467100" cy="15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Sauti Salama: Our Wins and What's Next</a:t>
            </a:r>
            <a:endParaRPr sz="18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7" title="DF25_PresentationTemplate_Title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" y="0"/>
            <a:ext cx="914404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7"/>
          <p:cNvSpPr txBox="1"/>
          <p:nvPr/>
        </p:nvSpPr>
        <p:spPr>
          <a:xfrm>
            <a:off x="876100" y="459900"/>
            <a:ext cx="7164000" cy="4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b="1"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Global Recognition: 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1" marL="91440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1100"/>
              <a:buFont typeface="Roboto Mono Light"/>
              <a:buChar char="○"/>
            </a:pPr>
            <a:r>
              <a:rPr lang="en" sz="16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Participation in COP28, COP29, and COP30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b="1"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Major Wins: 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1" marL="91440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1100"/>
              <a:buFont typeface="Roboto Mono Light"/>
              <a:buChar char="○"/>
            </a:pPr>
            <a:r>
              <a:rPr lang="en" sz="16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Unicef Gitex winner 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b="1"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Survivor Impact: 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1" marL="91440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1100"/>
              <a:buFont typeface="Roboto Mono Light"/>
              <a:buChar char="○"/>
            </a:pPr>
            <a:r>
              <a:rPr lang="en" sz="16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Over 400 cases reported and connected to critical legal, medical, and psychosocial support. 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1600"/>
              <a:buFont typeface="Roboto Mono Light"/>
              <a:buChar char="●"/>
            </a:pPr>
            <a:r>
              <a:rPr b="1"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Policy making: 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1" marL="91440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1100"/>
              <a:buFont typeface="Roboto Mono Light"/>
              <a:buChar char="○"/>
            </a:pPr>
            <a:r>
              <a:rPr lang="en" sz="16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Kictanet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5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Google's Support: Free Tier, WIT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i="1"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Tusonge as a Case study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8"/>
          <p:cNvSpPr/>
          <p:nvPr/>
        </p:nvSpPr>
        <p:spPr>
          <a:xfrm>
            <a:off x="369100" y="2012150"/>
            <a:ext cx="3563400" cy="2774100"/>
          </a:xfrm>
          <a:prstGeom prst="roundRect">
            <a:avLst>
              <a:gd fmla="val 7725" name="adj"/>
            </a:avLst>
          </a:prstGeom>
          <a:solidFill>
            <a:schemeClr val="lt1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28600" spcFirstLastPara="1" rIns="45720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Ship, Learn, Iterate.</a:t>
            </a:r>
            <a:endParaRPr b="1" sz="30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Oliver Wainaina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u="sng">
                <a:solidFill>
                  <a:schemeClr val="hlink"/>
                </a:solidFill>
                <a:latin typeface="Roboto Mono Light"/>
                <a:ea typeface="Roboto Mono Light"/>
                <a:cs typeface="Roboto Mono Light"/>
                <a:sym typeface="Roboto Mono Light"/>
                <a:hlinkClick r:id="rId3"/>
              </a:rPr>
              <a:t>o</a:t>
            </a:r>
            <a:r>
              <a:rPr lang="en" sz="1600" u="sng">
                <a:solidFill>
                  <a:schemeClr val="hlink"/>
                </a:solidFill>
                <a:latin typeface="Roboto Mono Light"/>
                <a:ea typeface="Roboto Mono Light"/>
                <a:cs typeface="Roboto Mono Light"/>
                <a:sym typeface="Roboto Mono Light"/>
                <a:hlinkClick r:id="rId4"/>
              </a:rPr>
              <a:t>liverwainaina.co.ke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pic>
        <p:nvPicPr>
          <p:cNvPr id="190" name="Google Shape;190;p28"/>
          <p:cNvPicPr preferRelativeResize="0"/>
          <p:nvPr/>
        </p:nvPicPr>
        <p:blipFill rotWithShape="1">
          <a:blip r:embed="rId5">
            <a:alphaModFix/>
          </a:blip>
          <a:srcRect b="63657" l="0" r="50000" t="0"/>
          <a:stretch/>
        </p:blipFill>
        <p:spPr>
          <a:xfrm>
            <a:off x="54208" y="168272"/>
            <a:ext cx="4135101" cy="1690649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8"/>
          <p:cNvSpPr txBox="1"/>
          <p:nvPr/>
        </p:nvSpPr>
        <p:spPr>
          <a:xfrm>
            <a:off x="790457" y="1016177"/>
            <a:ext cx="14184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Sarice Centre</a:t>
            </a:r>
            <a:endParaRPr sz="9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92" name="Google Shape;192;p28"/>
          <p:cNvPicPr preferRelativeResize="0"/>
          <p:nvPr/>
        </p:nvPicPr>
        <p:blipFill rotWithShape="1">
          <a:blip r:embed="rId6">
            <a:alphaModFix/>
          </a:blip>
          <a:srcRect b="1157" l="709" r="709" t="2363"/>
          <a:stretch/>
        </p:blipFill>
        <p:spPr>
          <a:xfrm>
            <a:off x="4153680" y="1360871"/>
            <a:ext cx="4791350" cy="341217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8"/>
          <p:cNvSpPr txBox="1"/>
          <p:nvPr/>
        </p:nvSpPr>
        <p:spPr>
          <a:xfrm>
            <a:off x="5149875" y="4773050"/>
            <a:ext cx="269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>
                <a:solidFill>
                  <a:srgbClr val="D9D9D9"/>
                </a:solidFill>
              </a:rPr>
              <a:t>https://media.licdn.com/dms/image/v2/D4D22AQG-cskDlGgXWQ/feedshare-shrink_800/feedshare-shrink_800/0/1691873374730?e=2147483647&amp;v=beta&amp;t=7niBISteSM3B09qQ9A9cMp7ERLnogdLSZzIWXZbIxvw</a:t>
            </a:r>
            <a:endParaRPr sz="400">
              <a:solidFill>
                <a:srgbClr val="D9D9D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vFest 2025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EA4335"/>
      </a:accent2>
      <a:accent3>
        <a:srgbClr val="FBBC04"/>
      </a:accent3>
      <a:accent4>
        <a:srgbClr val="34A853"/>
      </a:accent4>
      <a:accent5>
        <a:srgbClr val="0094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