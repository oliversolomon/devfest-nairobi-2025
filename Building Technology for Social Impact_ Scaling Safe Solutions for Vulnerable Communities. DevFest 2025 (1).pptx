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 Light"/>
      <p:regular r:id="rId31"/>
      <p:bold r:id="rId32"/>
      <p:italic r:id="rId33"/>
      <p:boldItalic r:id="rId34"/>
    </p:embeddedFont>
    <p:embeddedFont>
      <p:font typeface="Google Sans"/>
      <p:regular r:id="rId35"/>
      <p:bold r:id="rId36"/>
      <p:italic r:id="rId37"/>
      <p:boldItalic r:id="rId38"/>
    </p:embeddedFont>
    <p:embeddedFont>
      <p:font typeface="Google Sans Medium"/>
      <p:regular r:id="rId39"/>
      <p:bold r:id="rId40"/>
      <p:italic r:id="rId41"/>
      <p:boldItalic r:id="rId42"/>
    </p:embeddedFont>
    <p:embeddedFont>
      <p:font typeface="Roboto Mono Thin"/>
      <p:regular r:id="rId43"/>
      <p:bold r:id="rId44"/>
      <p:italic r:id="rId45"/>
      <p:boldItalic r:id="rId46"/>
    </p:embeddedFont>
    <p:embeddedFont>
      <p:font typeface="Roboto Mono ExtraLight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809">
          <p15:clr>
            <a:srgbClr val="747775"/>
          </p15:clr>
        </p15:guide>
        <p15:guide id="4" pos="5499">
          <p15:clr>
            <a:srgbClr val="747775"/>
          </p15:clr>
        </p15:guide>
        <p15:guide id="5" pos="233">
          <p15:clr>
            <a:srgbClr val="747775"/>
          </p15:clr>
        </p15:guide>
        <p15:guide id="6" orient="horz" pos="765">
          <p15:clr>
            <a:srgbClr val="747775"/>
          </p15:clr>
        </p15:guide>
        <p15:guide id="7" orient="horz" pos="861">
          <p15:clr>
            <a:srgbClr val="747775"/>
          </p15:clr>
        </p15:guide>
        <p15:guide id="8" orient="horz" pos="9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809" orient="horz"/>
        <p:guide pos="5499"/>
        <p:guide pos="233"/>
        <p:guide pos="765" orient="horz"/>
        <p:guide pos="861" orient="horz"/>
        <p:guide pos="9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Medium-bold.fntdata"/><Relationship Id="rId42" Type="http://schemas.openxmlformats.org/officeDocument/2006/relationships/font" Target="fonts/GoogleSansMedium-boldItalic.fntdata"/><Relationship Id="rId41" Type="http://schemas.openxmlformats.org/officeDocument/2006/relationships/font" Target="fonts/GoogleSansMedium-italic.fntdata"/><Relationship Id="rId44" Type="http://schemas.openxmlformats.org/officeDocument/2006/relationships/font" Target="fonts/RobotoMonoThin-bold.fntdata"/><Relationship Id="rId43" Type="http://schemas.openxmlformats.org/officeDocument/2006/relationships/font" Target="fonts/RobotoMonoThin-regular.fntdata"/><Relationship Id="rId46" Type="http://schemas.openxmlformats.org/officeDocument/2006/relationships/font" Target="fonts/RobotoMonoThin-boldItalic.fntdata"/><Relationship Id="rId45" Type="http://schemas.openxmlformats.org/officeDocument/2006/relationships/font" Target="fonts/RobotoMonoThin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ExtraLight-bold.fntdata"/><Relationship Id="rId47" Type="http://schemas.openxmlformats.org/officeDocument/2006/relationships/font" Target="fonts/RobotoMonoExtraLight-regular.fntdata"/><Relationship Id="rId49" Type="http://schemas.openxmlformats.org/officeDocument/2006/relationships/font" Target="fonts/RobotoMonoExtra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Light-regular.fntdata"/><Relationship Id="rId30" Type="http://schemas.openxmlformats.org/officeDocument/2006/relationships/slide" Target="slides/slide25.xml"/><Relationship Id="rId33" Type="http://schemas.openxmlformats.org/officeDocument/2006/relationships/font" Target="fonts/RobotoMonoLight-italic.fntdata"/><Relationship Id="rId32" Type="http://schemas.openxmlformats.org/officeDocument/2006/relationships/font" Target="fonts/RobotoMonoLight-bold.fntdata"/><Relationship Id="rId35" Type="http://schemas.openxmlformats.org/officeDocument/2006/relationships/font" Target="fonts/GoogleSans-regular.fntdata"/><Relationship Id="rId34" Type="http://schemas.openxmlformats.org/officeDocument/2006/relationships/font" Target="fonts/RobotoMonoLight-boldItalic.fntdata"/><Relationship Id="rId37" Type="http://schemas.openxmlformats.org/officeDocument/2006/relationships/font" Target="fonts/GoogleSans-italic.fntdata"/><Relationship Id="rId36" Type="http://schemas.openxmlformats.org/officeDocument/2006/relationships/font" Target="fonts/GoogleSans-bold.fntdata"/><Relationship Id="rId39" Type="http://schemas.openxmlformats.org/officeDocument/2006/relationships/font" Target="fonts/GoogleSansMedium-regular.fntdata"/><Relationship Id="rId38" Type="http://schemas.openxmlformats.org/officeDocument/2006/relationships/font" Target="fonts/Google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regular.fntdata"/><Relationship Id="rId50" Type="http://schemas.openxmlformats.org/officeDocument/2006/relationships/font" Target="fonts/RobotoMonoExtraLight-boldItalic.fntdata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b4bbb7f4c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5b4bbb7f4c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f2b97644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9f2b97644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5a5db83d97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5a5db83d97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5a5db83d97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5a5db83d97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5514d5365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5514d5365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eee84a44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eee84a44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eee84a44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eee84a44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96f55b70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96f55b7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eee84a44b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eee84a44b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eee84a44b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eee84a44b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96f55b7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96f55b7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fc3e78840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fc3e78840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2b9764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f2b9764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fc3e78840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fc3e78840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eee84a44b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eee84a44b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ee84a44b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eee84a44b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43c561a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43c561a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f43c561a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f43c561a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2b976441_0_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f2b976441_0_1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f407b0ec1_3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f407b0ec1_3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f407b0ec1_3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f407b0ec1_3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f43c561a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f43c561a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f43c561a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f43c561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f43c561a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f43c561a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eee84a44b_1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eee84a44b_1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Logo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0F0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b="1"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  <a:defRPr sz="2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ogle Sans"/>
              <a:buChar char="●"/>
              <a:defRPr sz="25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●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○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 Light"/>
              <a:buChar char="■"/>
              <a:defRPr sz="16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irebase.studio/" TargetMode="External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oliverwainaina.co.ke" TargetMode="External"/><Relationship Id="rId4" Type="http://schemas.openxmlformats.org/officeDocument/2006/relationships/hyperlink" Target="http://oliverwainaina.co.ke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812542" y="3819938"/>
            <a:ext cx="429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Oliver Wainaina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Winnie Mandela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9" name="Google Shape;19;p4"/>
          <p:cNvSpPr txBox="1"/>
          <p:nvPr/>
        </p:nvSpPr>
        <p:spPr>
          <a:xfrm>
            <a:off x="812550" y="1518800"/>
            <a:ext cx="74457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Technology for </a:t>
            </a:r>
            <a:r>
              <a:rPr b="1" lang="en" sz="6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Social</a:t>
            </a:r>
            <a:r>
              <a:rPr b="1" lang="en" sz="6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Impact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6648180" y="481468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1E1E1E"/>
                </a:solidFill>
                <a:latin typeface="Roboto Mono ExtraLight"/>
                <a:ea typeface="Roboto Mono ExtraLight"/>
                <a:cs typeface="Roboto Mono ExtraLight"/>
                <a:sym typeface="Roboto Mono ExtraLight"/>
              </a:rPr>
              <a:t>2025</a:t>
            </a:r>
            <a:endParaRPr sz="4500">
              <a:solidFill>
                <a:srgbClr val="1E1E1E"/>
              </a:solidFill>
              <a:latin typeface="Roboto Mono ExtraLight"/>
              <a:ea typeface="Roboto Mono ExtraLight"/>
              <a:cs typeface="Roboto Mono ExtraLight"/>
              <a:sym typeface="Roboto Mono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1675" y="262163"/>
            <a:ext cx="4358200" cy="46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03994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826989" y="793727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369100" y="1436150"/>
            <a:ext cx="452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Mandela - The Learner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369092" y="3751488"/>
            <a:ext cx="429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Winnie Mandela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Product Associate,Amref Health Africa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 title="me.jpg"/>
          <p:cNvPicPr preferRelativeResize="0"/>
          <p:nvPr/>
        </p:nvPicPr>
        <p:blipFill rotWithShape="1">
          <a:blip r:embed="rId3">
            <a:alphaModFix/>
          </a:blip>
          <a:srcRect b="0" l="14270" r="14270" t="0"/>
          <a:stretch/>
        </p:blipFill>
        <p:spPr>
          <a:xfrm>
            <a:off x="4991682" y="43221"/>
            <a:ext cx="4157701" cy="527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6" title="DF25_PresentationTemplate_Title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03994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826989" y="793727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369100" y="1607125"/>
            <a:ext cx="45270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Curious </a:t>
            </a: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Beginner to Founder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521492" y="3903888"/>
            <a:ext cx="4294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Oliver Wainaina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Tech Lead,Tusonge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02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Problem: Pain Is the Currency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3267100" y="2911575"/>
            <a:ext cx="37998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Who are the Vulnerable?</a:t>
            </a:r>
            <a:endParaRPr b="1" sz="18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Case Study:</a:t>
            </a:r>
            <a:endParaRPr b="1" sz="18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Witnessing abuse and listening to stories of abuse.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308125" y="323700"/>
            <a:ext cx="4500300" cy="693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More than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308125" y="3559800"/>
            <a:ext cx="4500300" cy="1259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Of Kenyan women experience abuse at one point in their lives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5072010" y="323700"/>
            <a:ext cx="1111500" cy="1111500"/>
          </a:xfrm>
          <a:prstGeom prst="ellipse">
            <a:avLst/>
          </a:prstGeom>
          <a:solidFill>
            <a:srgbClr val="FFE79C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7744135" y="3707705"/>
            <a:ext cx="1111500" cy="1111500"/>
          </a:xfrm>
          <a:prstGeom prst="ellipse">
            <a:avLst/>
          </a:prstGeom>
          <a:solidFill>
            <a:srgbClr val="FED7D7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960025" y="323700"/>
            <a:ext cx="2746500" cy="4495500"/>
          </a:xfrm>
          <a:prstGeom prst="parallelogram">
            <a:avLst>
              <a:gd fmla="val 65106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3ECF6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55" name="Google Shape;5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70" y="1368424"/>
            <a:ext cx="377934" cy="24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4411048" y="1368424"/>
            <a:ext cx="377934" cy="24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6146607" y="323700"/>
            <a:ext cx="2746500" cy="4495500"/>
          </a:xfrm>
          <a:prstGeom prst="parallelogram">
            <a:avLst>
              <a:gd fmla="val 65106" name="adj"/>
            </a:avLst>
          </a:prstGeom>
          <a:solidFill>
            <a:srgbClr val="C1F8C0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58" name="Google Shape;58;p8"/>
          <p:cNvSpPr txBox="1"/>
          <p:nvPr>
            <p:ph idx="4294967295" type="title"/>
          </p:nvPr>
        </p:nvSpPr>
        <p:spPr>
          <a:xfrm>
            <a:off x="332175" y="1831775"/>
            <a:ext cx="4456800" cy="146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110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44</a:t>
            </a:r>
            <a:r>
              <a:rPr b="0" lang="en" sz="110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%</a:t>
            </a:r>
            <a:endParaRPr b="0" sz="110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Reporting Barrier: 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Why the statistics are low</a:t>
            </a:r>
            <a:endParaRPr b="1" i="1" sz="2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Stigma: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Not a problem for the marginalized alone; wealthy and men suffer in silence too.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High Cost: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Loss of credibility for professionals (the ultimate vulnerability).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03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70" name="Google Shape;70;p10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Flaw in Digital-First Thinking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0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How many of us have kenyan apps made by other people (not safaricom / mpesa)?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1"/>
          <p:cNvSpPr txBox="1"/>
          <p:nvPr/>
        </p:nvSpPr>
        <p:spPr>
          <a:xfrm>
            <a:off x="1448175" y="1296375"/>
            <a:ext cx="3506100" cy="247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Pre-Scale Rule: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First, we must build a personal, face-to-face </a:t>
            </a: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(F2F)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(trust), and then build software to automate and scale.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/>
        </p:nvSpPr>
        <p:spPr>
          <a:xfrm>
            <a:off x="546500" y="1518800"/>
            <a:ext cx="30342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Introducing…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83" name="Google Shape;83;p12" title="Sauti Salama.png"/>
          <p:cNvPicPr preferRelativeResize="0"/>
          <p:nvPr/>
        </p:nvPicPr>
        <p:blipFill rotWithShape="1">
          <a:blip r:embed="rId3">
            <a:alphaModFix/>
          </a:blip>
          <a:srcRect b="19483" l="0" r="0" t="21116"/>
          <a:stretch/>
        </p:blipFill>
        <p:spPr>
          <a:xfrm>
            <a:off x="3861150" y="705925"/>
            <a:ext cx="5143501" cy="3055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03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034250" y="781200"/>
            <a:ext cx="5696100" cy="2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Designing from First Principles: 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Roboto Mono Light"/>
              <a:buChar char="●"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Building With, Not For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448179" y="1696565"/>
            <a:ext cx="35061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The Principle: 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"If I am not in the room and the solution is meant for me, then the solution is against me."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3724875" y="843308"/>
            <a:ext cx="52110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Empathy Mapping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724882" y="1560174"/>
            <a:ext cx="3629400" cy="9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with Privacy in mind (not just a legal clause). The solution must not compound builders' pain points only.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202" y="-84549"/>
            <a:ext cx="4292576" cy="537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title="DF25_PresentationTemplate_PhotoCollage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4248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654927" y="694800"/>
            <a:ext cx="34584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5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Survivors Cafe sessions were used to get feedback from survivors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5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Providing a safe space for survivors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/>
        </p:nvSpPr>
        <p:spPr>
          <a:xfrm>
            <a:off x="826989" y="890293"/>
            <a:ext cx="16599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Sarice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553822" y="1880539"/>
            <a:ext cx="2131200" cy="6150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Flutter App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401122" y="1880541"/>
            <a:ext cx="2131200" cy="615000"/>
          </a:xfrm>
          <a:prstGeom prst="roundRect">
            <a:avLst>
              <a:gd fmla="val 18087" name="adj"/>
            </a:avLst>
          </a:prstGeom>
          <a:solidFill>
            <a:srgbClr val="CCF6C5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Web App</a:t>
            </a:r>
            <a:endParaRPr sz="11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18" name="Google Shape;118;p17"/>
          <p:cNvCxnSpPr/>
          <p:nvPr/>
        </p:nvCxnSpPr>
        <p:spPr>
          <a:xfrm flipH="1" rot="10800000">
            <a:off x="5685022" y="2187291"/>
            <a:ext cx="716100" cy="15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" name="Google Shape;119;p17"/>
          <p:cNvSpPr txBox="1"/>
          <p:nvPr/>
        </p:nvSpPr>
        <p:spPr>
          <a:xfrm>
            <a:off x="3553825" y="876208"/>
            <a:ext cx="52110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Empathy</a:t>
            </a: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Mapping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04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034250" y="781200"/>
            <a:ext cx="54438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Building a Safe Digital Haven on the Cloud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267100" y="2911574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Google Cloud Platform </a:t>
            </a: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(GCP)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and </a:t>
            </a:r>
            <a:r>
              <a:rPr b="1" lang="en" sz="1800">
                <a:solidFill>
                  <a:srgbClr val="1E1E1E"/>
                </a:solidFill>
                <a:latin typeface="Roboto Mono"/>
                <a:ea typeface="Roboto Mono"/>
                <a:cs typeface="Roboto Mono"/>
                <a:sym typeface="Roboto Mono"/>
              </a:rPr>
              <a:t>Firebase</a:t>
            </a: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for reliability and scalability.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/>
        </p:nvSpPr>
        <p:spPr>
          <a:xfrm>
            <a:off x="235375" y="916775"/>
            <a:ext cx="4312800" cy="35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Rapid Prototyping:</a:t>
            </a: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Using Gemini and Firebase studio for quick prototypes and MVPs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900"/>
              <a:buFont typeface="Google Sans"/>
              <a:buChar char="●"/>
            </a:pPr>
            <a:r>
              <a:rPr lang="en" sz="29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Firebase Studio</a:t>
            </a:r>
            <a:endParaRPr sz="29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b="1" lang="en" sz="16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https://firebase.studio/</a:t>
            </a:r>
            <a:endParaRPr b="1" sz="1600">
              <a:solidFill>
                <a:srgbClr val="1E1E1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525" y="1309550"/>
            <a:ext cx="3940976" cy="221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0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848075" y="772785"/>
            <a:ext cx="71640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Features of Sauti Salama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Reporting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a case of Abuse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Anonymous reporting where you get anonymous help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Reporting with your actual details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Matching of Reported case with Profesional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Legal, Mental Health, Emergency Shelter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Community and Resources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Connect, Learn and share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DF25_PresentationTemplate_Title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0"/>
            <a:ext cx="914404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804875" y="808975"/>
            <a:ext cx="7164000" cy="38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Survivor Impact: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Over 400 cases reported and connected to critical legal, medical, and psychosocial support.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More cases reported through the app than face to face / via call. 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Global Recognition: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Participation in COP28, COP29, and COP30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Roboto Mono Light"/>
              <a:buChar char="●"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Policy making: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Kictanet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256000" y="247500"/>
            <a:ext cx="8457000" cy="615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Reporting Flow with different Stakeholders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332194" y="1308325"/>
            <a:ext cx="8457000" cy="8856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Case Reporting</a:t>
            </a:r>
            <a:endParaRPr sz="10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6189389" y="30058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Professional(Sheltering Home)</a:t>
            </a:r>
            <a:endParaRPr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3260804" y="30058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admin(Sauti Salama)</a:t>
            </a:r>
            <a:endParaRPr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332219" y="30058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FFD427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Survivor</a:t>
            </a:r>
            <a:endParaRPr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54" name="Google Shape;154;p22"/>
          <p:cNvSpPr/>
          <p:nvPr/>
        </p:nvSpPr>
        <p:spPr>
          <a:xfrm>
            <a:off x="4800589" y="39690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1E1E1E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Anonymous helping</a:t>
            </a:r>
            <a:endParaRPr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1743894" y="3969025"/>
            <a:ext cx="2599500" cy="392100"/>
          </a:xfrm>
          <a:prstGeom prst="roundRect">
            <a:avLst>
              <a:gd fmla="val 50000" name="adj"/>
            </a:avLst>
          </a:prstGeom>
          <a:solidFill>
            <a:srgbClr val="1E1E1E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Anonymous report</a:t>
            </a:r>
            <a:endParaRPr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156" name="Google Shape;156;p22"/>
          <p:cNvCxnSpPr>
            <a:endCxn id="153" idx="0"/>
          </p:cNvCxnSpPr>
          <p:nvPr/>
        </p:nvCxnSpPr>
        <p:spPr>
          <a:xfrm>
            <a:off x="1631969" y="2204525"/>
            <a:ext cx="0" cy="801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7" name="Google Shape;157;p22"/>
          <p:cNvCxnSpPr/>
          <p:nvPr/>
        </p:nvCxnSpPr>
        <p:spPr>
          <a:xfrm>
            <a:off x="7489144" y="2204650"/>
            <a:ext cx="0" cy="801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" name="Google Shape;158;p22"/>
          <p:cNvCxnSpPr/>
          <p:nvPr/>
        </p:nvCxnSpPr>
        <p:spPr>
          <a:xfrm>
            <a:off x="4571994" y="2204650"/>
            <a:ext cx="0" cy="801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" name="Google Shape;159;p22"/>
          <p:cNvCxnSpPr/>
          <p:nvPr/>
        </p:nvCxnSpPr>
        <p:spPr>
          <a:xfrm>
            <a:off x="2466750" y="3392600"/>
            <a:ext cx="0" cy="576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22"/>
          <p:cNvCxnSpPr/>
          <p:nvPr/>
        </p:nvCxnSpPr>
        <p:spPr>
          <a:xfrm>
            <a:off x="6565700" y="3392600"/>
            <a:ext cx="0" cy="576300"/>
          </a:xfrm>
          <a:prstGeom prst="straightConnector1">
            <a:avLst/>
          </a:prstGeom>
          <a:noFill/>
          <a:ln cap="flat" cmpd="sng" w="19050">
            <a:solidFill>
              <a:srgbClr val="1E1E1E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23"/>
          <p:cNvCxnSpPr>
            <a:endCxn id="166" idx="0"/>
          </p:cNvCxnSpPr>
          <p:nvPr/>
        </p:nvCxnSpPr>
        <p:spPr>
          <a:xfrm>
            <a:off x="3649625" y="4054800"/>
            <a:ext cx="96600" cy="40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" name="Google Shape;167;p23"/>
          <p:cNvSpPr/>
          <p:nvPr/>
        </p:nvSpPr>
        <p:spPr>
          <a:xfrm>
            <a:off x="273300" y="66375"/>
            <a:ext cx="8457000" cy="615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Anonymous</a:t>
            </a: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 Reporting</a:t>
            </a:r>
            <a:endParaRPr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cxnSp>
        <p:nvCxnSpPr>
          <p:cNvPr id="168" name="Google Shape;168;p23"/>
          <p:cNvCxnSpPr>
            <a:stCxn id="169" idx="2"/>
            <a:endCxn id="170" idx="0"/>
          </p:cNvCxnSpPr>
          <p:nvPr/>
        </p:nvCxnSpPr>
        <p:spPr>
          <a:xfrm>
            <a:off x="1228900" y="1487272"/>
            <a:ext cx="0" cy="675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" name="Google Shape;171;p23"/>
          <p:cNvCxnSpPr>
            <a:stCxn id="170" idx="3"/>
            <a:endCxn id="172" idx="1"/>
          </p:cNvCxnSpPr>
          <p:nvPr/>
        </p:nvCxnSpPr>
        <p:spPr>
          <a:xfrm>
            <a:off x="2114350" y="2521388"/>
            <a:ext cx="668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" name="Google Shape;173;p23"/>
          <p:cNvCxnSpPr>
            <a:stCxn id="172" idx="3"/>
            <a:endCxn id="174" idx="1"/>
          </p:cNvCxnSpPr>
          <p:nvPr/>
        </p:nvCxnSpPr>
        <p:spPr>
          <a:xfrm>
            <a:off x="4026637" y="25213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" name="Google Shape;175;p23"/>
          <p:cNvCxnSpPr>
            <a:stCxn id="174" idx="3"/>
            <a:endCxn id="176" idx="1"/>
          </p:cNvCxnSpPr>
          <p:nvPr/>
        </p:nvCxnSpPr>
        <p:spPr>
          <a:xfrm>
            <a:off x="5617938" y="25213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" name="Google Shape;177;p23"/>
          <p:cNvCxnSpPr>
            <a:stCxn id="176" idx="3"/>
            <a:endCxn id="178" idx="1"/>
          </p:cNvCxnSpPr>
          <p:nvPr/>
        </p:nvCxnSpPr>
        <p:spPr>
          <a:xfrm>
            <a:off x="7209240" y="25213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" name="Google Shape;179;p23"/>
          <p:cNvCxnSpPr>
            <a:stCxn id="180" idx="0"/>
            <a:endCxn id="178" idx="2"/>
          </p:cNvCxnSpPr>
          <p:nvPr/>
        </p:nvCxnSpPr>
        <p:spPr>
          <a:xfrm rot="-5400000">
            <a:off x="5513125" y="737450"/>
            <a:ext cx="523500" cy="48078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1" name="Google Shape;181;p23"/>
          <p:cNvCxnSpPr/>
          <p:nvPr/>
        </p:nvCxnSpPr>
        <p:spPr>
          <a:xfrm flipH="1" rot="5400000">
            <a:off x="1772549" y="3056300"/>
            <a:ext cx="1352400" cy="362400"/>
          </a:xfrm>
          <a:prstGeom prst="bentConnector3">
            <a:avLst>
              <a:gd fmla="val 7919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" name="Google Shape;182;p23"/>
          <p:cNvSpPr/>
          <p:nvPr/>
        </p:nvSpPr>
        <p:spPr>
          <a:xfrm>
            <a:off x="1761150" y="1678952"/>
            <a:ext cx="13752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Hosting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3578725" y="1678952"/>
            <a:ext cx="12435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Firestore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5170075" y="1678952"/>
            <a:ext cx="12435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Cloud functions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6761425" y="1678952"/>
            <a:ext cx="1243500" cy="3141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Cloud funtions</a:t>
            </a:r>
            <a:endParaRPr sz="1000">
              <a:solidFill>
                <a:srgbClr val="1A1A1A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186" name="Google Shape;186;p23"/>
          <p:cNvCxnSpPr>
            <a:stCxn id="180" idx="3"/>
            <a:endCxn id="187" idx="1"/>
          </p:cNvCxnSpPr>
          <p:nvPr/>
        </p:nvCxnSpPr>
        <p:spPr>
          <a:xfrm>
            <a:off x="4204975" y="3761300"/>
            <a:ext cx="1027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8" name="Google Shape;188;p23"/>
          <p:cNvSpPr/>
          <p:nvPr/>
        </p:nvSpPr>
        <p:spPr>
          <a:xfrm>
            <a:off x="4500973" y="3604250"/>
            <a:ext cx="546300" cy="314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Yes</a:t>
            </a:r>
            <a:endParaRPr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343450" y="770872"/>
            <a:ext cx="1770900" cy="716400"/>
          </a:xfrm>
          <a:prstGeom prst="roundRect">
            <a:avLst>
              <a:gd fmla="val 18087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Survivor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343450" y="2163188"/>
            <a:ext cx="17709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Open Website 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2783137" y="21631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Click Report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4374438" y="21631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Fill Form 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5965740" y="21631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Temp Account created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7557042" y="21631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Matching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5232762" y="3403100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Contact details shared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510650" y="4361425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End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2536975" y="3403100"/>
            <a:ext cx="1668000" cy="716400"/>
          </a:xfrm>
          <a:prstGeom prst="roundRect">
            <a:avLst>
              <a:gd fmla="val 18087" name="adj"/>
            </a:avLst>
          </a:prstGeom>
          <a:solidFill>
            <a:srgbClr val="57CA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Want to share contact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190" name="Google Shape;190;p23"/>
          <p:cNvCxnSpPr/>
          <p:nvPr/>
        </p:nvCxnSpPr>
        <p:spPr>
          <a:xfrm>
            <a:off x="3618812" y="4616850"/>
            <a:ext cx="594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" name="Google Shape;166;p23"/>
          <p:cNvSpPr/>
          <p:nvPr/>
        </p:nvSpPr>
        <p:spPr>
          <a:xfrm>
            <a:off x="3473075" y="4459800"/>
            <a:ext cx="546300" cy="314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No</a:t>
            </a:r>
            <a:endParaRPr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191" name="Google Shape;191;p23"/>
          <p:cNvCxnSpPr>
            <a:stCxn id="192" idx="3"/>
            <a:endCxn id="189" idx="1"/>
          </p:cNvCxnSpPr>
          <p:nvPr/>
        </p:nvCxnSpPr>
        <p:spPr>
          <a:xfrm>
            <a:off x="5580101" y="4647850"/>
            <a:ext cx="930600" cy="71700"/>
          </a:xfrm>
          <a:prstGeom prst="straightConnector1">
            <a:avLst/>
          </a:prstGeom>
          <a:noFill/>
          <a:ln cap="flat" cmpd="sng" w="19050">
            <a:solidFill>
              <a:srgbClr val="F9AB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" name="Google Shape;192;p23"/>
          <p:cNvSpPr/>
          <p:nvPr/>
        </p:nvSpPr>
        <p:spPr>
          <a:xfrm>
            <a:off x="4204901" y="4289650"/>
            <a:ext cx="1375200" cy="7164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Gets Anonymous Help 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193" name="Google Shape;193;p23"/>
          <p:cNvCxnSpPr/>
          <p:nvPr/>
        </p:nvCxnSpPr>
        <p:spPr>
          <a:xfrm>
            <a:off x="6476262" y="3763100"/>
            <a:ext cx="594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23"/>
          <p:cNvSpPr/>
          <p:nvPr/>
        </p:nvSpPr>
        <p:spPr>
          <a:xfrm>
            <a:off x="7062351" y="3435900"/>
            <a:ext cx="1375200" cy="7164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Gets Anonymous Help 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195" name="Google Shape;195;p23"/>
          <p:cNvCxnSpPr/>
          <p:nvPr/>
        </p:nvCxnSpPr>
        <p:spPr>
          <a:xfrm flipH="1">
            <a:off x="7760750" y="4152300"/>
            <a:ext cx="244200" cy="315000"/>
          </a:xfrm>
          <a:prstGeom prst="straightConnector1">
            <a:avLst/>
          </a:prstGeom>
          <a:noFill/>
          <a:ln cap="flat" cmpd="sng" w="19050">
            <a:solidFill>
              <a:srgbClr val="F9AB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4"/>
          <p:cNvCxnSpPr>
            <a:endCxn id="201" idx="0"/>
          </p:cNvCxnSpPr>
          <p:nvPr/>
        </p:nvCxnSpPr>
        <p:spPr>
          <a:xfrm>
            <a:off x="5486975" y="2814875"/>
            <a:ext cx="96600" cy="40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2" name="Google Shape;202;p24"/>
          <p:cNvSpPr/>
          <p:nvPr/>
        </p:nvSpPr>
        <p:spPr>
          <a:xfrm>
            <a:off x="273300" y="66375"/>
            <a:ext cx="8457000" cy="615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Professionals 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03" name="Google Shape;203;p24"/>
          <p:cNvCxnSpPr>
            <a:stCxn id="204" idx="2"/>
            <a:endCxn id="205" idx="0"/>
          </p:cNvCxnSpPr>
          <p:nvPr/>
        </p:nvCxnSpPr>
        <p:spPr>
          <a:xfrm>
            <a:off x="1228900" y="1487272"/>
            <a:ext cx="0" cy="675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" name="Google Shape;206;p24"/>
          <p:cNvCxnSpPr>
            <a:stCxn id="205" idx="3"/>
            <a:endCxn id="207" idx="1"/>
          </p:cNvCxnSpPr>
          <p:nvPr/>
        </p:nvCxnSpPr>
        <p:spPr>
          <a:xfrm>
            <a:off x="2114350" y="2521388"/>
            <a:ext cx="668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" name="Google Shape;208;p24"/>
          <p:cNvCxnSpPr>
            <a:stCxn id="207" idx="3"/>
            <a:endCxn id="209" idx="1"/>
          </p:cNvCxnSpPr>
          <p:nvPr/>
        </p:nvCxnSpPr>
        <p:spPr>
          <a:xfrm>
            <a:off x="4026637" y="2521388"/>
            <a:ext cx="34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" name="Google Shape;210;p24"/>
          <p:cNvCxnSpPr>
            <a:stCxn id="211" idx="3"/>
            <a:endCxn id="212" idx="1"/>
          </p:cNvCxnSpPr>
          <p:nvPr/>
        </p:nvCxnSpPr>
        <p:spPr>
          <a:xfrm>
            <a:off x="5617837" y="2521375"/>
            <a:ext cx="594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3" name="Google Shape;213;p24"/>
          <p:cNvSpPr/>
          <p:nvPr/>
        </p:nvSpPr>
        <p:spPr>
          <a:xfrm>
            <a:off x="5480000" y="2364325"/>
            <a:ext cx="546300" cy="314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Yes</a:t>
            </a:r>
            <a:endParaRPr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343450" y="770872"/>
            <a:ext cx="1770900" cy="716400"/>
          </a:xfrm>
          <a:prstGeom prst="roundRect">
            <a:avLst>
              <a:gd fmla="val 18087" name="adj"/>
            </a:avLst>
          </a:prstGeom>
          <a:solidFill>
            <a:srgbClr val="5CDB6D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Professional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343450" y="2163188"/>
            <a:ext cx="17709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Open Website 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2783137" y="2163188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C3ECF6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See matched cases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6211788" y="2163175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Contact survivor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4374337" y="2163175"/>
            <a:ext cx="1243500" cy="716400"/>
          </a:xfrm>
          <a:prstGeom prst="roundRect">
            <a:avLst>
              <a:gd fmla="val 18087" name="adj"/>
            </a:avLst>
          </a:prstGeom>
          <a:solidFill>
            <a:srgbClr val="57CAF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Can Help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cxnSp>
        <p:nvCxnSpPr>
          <p:cNvPr id="214" name="Google Shape;214;p24"/>
          <p:cNvCxnSpPr/>
          <p:nvPr/>
        </p:nvCxnSpPr>
        <p:spPr>
          <a:xfrm>
            <a:off x="5456162" y="3376925"/>
            <a:ext cx="594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" name="Google Shape;201;p24"/>
          <p:cNvSpPr/>
          <p:nvPr/>
        </p:nvSpPr>
        <p:spPr>
          <a:xfrm>
            <a:off x="5310425" y="3219875"/>
            <a:ext cx="546300" cy="314100"/>
          </a:xfrm>
          <a:prstGeom prst="roundRect">
            <a:avLst>
              <a:gd fmla="val 50000" name="adj"/>
            </a:avLst>
          </a:prstGeom>
          <a:solidFill>
            <a:srgbClr val="FF7DAF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No</a:t>
            </a:r>
            <a:endParaRPr sz="13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6042250" y="3049725"/>
            <a:ext cx="1913100" cy="1149300"/>
          </a:xfrm>
          <a:prstGeom prst="roundRect">
            <a:avLst>
              <a:gd fmla="val 18087" name="adj"/>
            </a:avLst>
          </a:prstGeom>
          <a:solidFill>
            <a:srgbClr val="F8D8D8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Survivors case sent back for matching with other </a:t>
            </a:r>
            <a:r>
              <a:rPr lang="en" sz="1500">
                <a:solidFill>
                  <a:srgbClr val="1E1E1E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professionals</a:t>
            </a:r>
            <a:endParaRPr sz="1500">
              <a:solidFill>
                <a:srgbClr val="1E1E1E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/>
        </p:nvSpPr>
        <p:spPr>
          <a:xfrm>
            <a:off x="623912" y="459000"/>
            <a:ext cx="19533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1E1E1E"/>
                </a:solidFill>
                <a:latin typeface="Roboto Mono Thin"/>
                <a:ea typeface="Roboto Mono Thin"/>
                <a:cs typeface="Roboto Mono Thin"/>
                <a:sym typeface="Roboto Mono Thin"/>
              </a:rPr>
              <a:t>05</a:t>
            </a:r>
            <a:endParaRPr sz="6100">
              <a:solidFill>
                <a:srgbClr val="1E1E1E"/>
              </a:solidFill>
              <a:latin typeface="Roboto Mono Thin"/>
              <a:ea typeface="Roboto Mono Thin"/>
              <a:cs typeface="Roboto Mono Thin"/>
              <a:sym typeface="Roboto Mono Thin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3267106" y="781192"/>
            <a:ext cx="52110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Demo on Firestore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3267100" y="2295157"/>
            <a:ext cx="28560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Redesigning anonymous Reporting</a:t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/>
        </p:nvSpPr>
        <p:spPr>
          <a:xfrm>
            <a:off x="3724875" y="843308"/>
            <a:ext cx="52110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Prerequisites</a:t>
            </a:r>
            <a:endParaRPr b="1" sz="4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3724875" y="1750350"/>
            <a:ext cx="5211000" cy="24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Basic Firebase knowledge</a:t>
            </a:r>
            <a:endParaRPr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298450" lvl="1" marL="9144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1100"/>
              <a:buFont typeface="Roboto Mono Light"/>
              <a:buChar char="○"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Check out Firebase Kenya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E1E1E"/>
              </a:buClr>
              <a:buSzPts val="2000"/>
              <a:buFont typeface="Google Sans"/>
              <a:buChar char="●"/>
            </a:pPr>
            <a:r>
              <a:rPr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Google Cloud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826989" y="890293"/>
            <a:ext cx="16599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/>
        </p:nvSpPr>
        <p:spPr>
          <a:xfrm>
            <a:off x="6695494" y="890300"/>
            <a:ext cx="1656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Sarit Centre</a:t>
            </a:r>
            <a:endParaRPr sz="95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1448179" y="1696565"/>
            <a:ext cx="35061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bit.ly/ssdevfest</a:t>
            </a:r>
            <a:endParaRPr b="1"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/>
          <p:nvPr/>
        </p:nvSpPr>
        <p:spPr>
          <a:xfrm>
            <a:off x="369100" y="2012150"/>
            <a:ext cx="3563400" cy="2774100"/>
          </a:xfrm>
          <a:prstGeom prst="roundRect">
            <a:avLst>
              <a:gd fmla="val 7725" name="adj"/>
            </a:avLst>
          </a:prstGeom>
          <a:solidFill>
            <a:schemeClr val="lt1"/>
          </a:solidFill>
          <a:ln cap="flat" cmpd="sng" w="1905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28600" spcFirstLastPara="1" rIns="4572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E1E1E"/>
                </a:solidFill>
                <a:latin typeface="Google Sans"/>
                <a:ea typeface="Google Sans"/>
                <a:cs typeface="Google Sans"/>
                <a:sym typeface="Google Sans"/>
              </a:rPr>
              <a:t>Ship, Learn, Iterate.</a:t>
            </a:r>
            <a:endParaRPr b="1" sz="3000">
              <a:solidFill>
                <a:srgbClr val="1E1E1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E1E1E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Oliver Wainaina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hlink"/>
                </a:solidFill>
                <a:latin typeface="Roboto Mono Light"/>
                <a:ea typeface="Roboto Mono Light"/>
                <a:cs typeface="Roboto Mono Light"/>
                <a:sym typeface="Roboto Mono Light"/>
                <a:hlinkClick r:id="rId3"/>
              </a:rPr>
              <a:t>o</a:t>
            </a:r>
            <a:r>
              <a:rPr lang="en" sz="1600" u="sng">
                <a:solidFill>
                  <a:schemeClr val="hlink"/>
                </a:solidFill>
                <a:latin typeface="Roboto Mono Light"/>
                <a:ea typeface="Roboto Mono Light"/>
                <a:cs typeface="Roboto Mono Light"/>
                <a:sym typeface="Roboto Mono Light"/>
                <a:hlinkClick r:id="rId4"/>
              </a:rPr>
              <a:t>liverwainaina.co.ke</a:t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E1E1E"/>
              </a:solidFill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5">
            <a:alphaModFix/>
          </a:blip>
          <a:srcRect b="63657" l="0" r="50000" t="0"/>
          <a:stretch/>
        </p:blipFill>
        <p:spPr>
          <a:xfrm>
            <a:off x="54208" y="168272"/>
            <a:ext cx="4135101" cy="16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 txBox="1"/>
          <p:nvPr/>
        </p:nvSpPr>
        <p:spPr>
          <a:xfrm>
            <a:off x="790457" y="1016177"/>
            <a:ext cx="14184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Sarice Centre</a:t>
            </a:r>
            <a:endParaRPr sz="9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43" name="Google Shape;243;p28"/>
          <p:cNvPicPr preferRelativeResize="0"/>
          <p:nvPr/>
        </p:nvPicPr>
        <p:blipFill rotWithShape="1">
          <a:blip r:embed="rId6">
            <a:alphaModFix/>
          </a:blip>
          <a:srcRect b="1157" l="709" r="709" t="2363"/>
          <a:stretch/>
        </p:blipFill>
        <p:spPr>
          <a:xfrm>
            <a:off x="4153680" y="1360871"/>
            <a:ext cx="4791350" cy="341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/>
          <p:nvPr/>
        </p:nvSpPr>
        <p:spPr>
          <a:xfrm>
            <a:off x="5149875" y="4773050"/>
            <a:ext cx="269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D9D9D9"/>
                </a:solidFill>
              </a:rPr>
              <a:t>https://media.licdn.com/dms/image/v2/D4D22AQG-cskDlGgXWQ/feedshare-shrink_800/feedshare-shrink_800/0/1691873374730?e=2147483647&amp;v=beta&amp;t=7niBISteSM3B09qQ9A9cMp7ERLnogdLSZzIWXZbIxvw</a:t>
            </a:r>
            <a:endParaRPr sz="40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vFest 202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0094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